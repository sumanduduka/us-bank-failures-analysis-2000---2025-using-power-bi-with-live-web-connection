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1.xml" ContentType="application/vnd.ms-office.webextensio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65" r:id="rId4"/>
    <p:sldId id="266" r:id="rId5"/>
    <p:sldId id="261" r:id="rId6"/>
    <p:sldId id="257" r:id="rId7"/>
    <p:sldId id="259" r:id="rId8"/>
    <p:sldId id="264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4" autoAdjust="0"/>
    <p:restoredTop sz="86410" autoAdjust="0"/>
  </p:normalViewPr>
  <p:slideViewPr>
    <p:cSldViewPr snapToGrid="0" snapToObjects="1">
      <p:cViewPr varScale="1">
        <p:scale>
          <a:sx n="71" d="100"/>
          <a:sy n="71" d="100"/>
        </p:scale>
        <p:origin x="173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0B8DF-1C95-44BE-B870-043E0C04DF73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615C2-22CE-40B1-B584-7A1A032B6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287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AF079-F8BB-2E2C-BA9B-2BD3A06BF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B2A8980F-979D-9495-AA61-8571674D8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8724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C578F0FA-11FF-FB3B-77BD-E29ACFA73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F91DFB42-63B4-5A04-A52F-E0D38BBCF4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9:notes">
            <a:extLst>
              <a:ext uri="{FF2B5EF4-FFF2-40B4-BE49-F238E27FC236}">
                <a16:creationId xmlns:a16="http://schemas.microsoft.com/office/drawing/2014/main" id="{41DBE067-56FD-276B-E9D1-BE7552E606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4527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89F91-CA14-7A0F-BEE5-02C9871D5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5B3EB24B-FD1C-B461-CEE6-C569CAE80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4330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cd1f31a3-369c-41e6-b04d-0e2b2d931b6f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cd1f31a3-369c-41e6-b04d-0e2b2d931b6f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53447" y="3939044"/>
            <a:ext cx="9283011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</a:rPr>
              <a:t>US Bank Failures - A 25-Year Historical Analysis (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</a:rPr>
              <a:t>2000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</a:rPr>
              <a:t> - 2025)</a:t>
            </a: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85141" y="4763975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08" y="1679271"/>
            <a:ext cx="3639168" cy="60007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451" y="4804445"/>
            <a:ext cx="162027" cy="15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DE57D9-C34A-1952-2C99-2D932C5B57AD}"/>
              </a:ext>
            </a:extLst>
          </p:cNvPr>
          <p:cNvSpPr txBox="1"/>
          <p:nvPr/>
        </p:nvSpPr>
        <p:spPr>
          <a:xfrm>
            <a:off x="885141" y="2601612"/>
            <a:ext cx="2131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Suman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Duduka</a:t>
            </a:r>
          </a:p>
        </p:txBody>
      </p:sp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3177980" y="1267104"/>
            <a:ext cx="5836038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5F5F5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Project Objective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71499" y="2558253"/>
            <a:ext cx="11049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To analyze 25 years of volatility in the US banking sector, identifying key trends, crisis points, and providing actionable historical insights through an automated BI solution.</a:t>
            </a:r>
            <a:endParaRPr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9" name="Google Shape;145;p18">
            <a:extLst>
              <a:ext uri="{FF2B5EF4-FFF2-40B4-BE49-F238E27FC236}">
                <a16:creationId xmlns:a16="http://schemas.microsoft.com/office/drawing/2014/main" id="{0210E89A-BE83-FB16-C797-6B41E9C6EFE0}"/>
              </a:ext>
            </a:extLst>
          </p:cNvPr>
          <p:cNvSpPr txBox="1"/>
          <p:nvPr/>
        </p:nvSpPr>
        <p:spPr>
          <a:xfrm>
            <a:off x="691242" y="3854641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Pre-2008 Financial Crisis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Google Shape;146;p18">
            <a:extLst>
              <a:ext uri="{FF2B5EF4-FFF2-40B4-BE49-F238E27FC236}">
                <a16:creationId xmlns:a16="http://schemas.microsoft.com/office/drawing/2014/main" id="{BFE8D68B-B383-788A-82BF-AB559CA24CA6}"/>
              </a:ext>
            </a:extLst>
          </p:cNvPr>
          <p:cNvSpPr txBox="1"/>
          <p:nvPr/>
        </p:nvSpPr>
        <p:spPr>
          <a:xfrm>
            <a:off x="691242" y="4368991"/>
            <a:ext cx="11049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Using advanced bookmarking, users can instantly toggle the dashboard to filter for data strictly before the 2008 financial crash, isolating early warning signs.</a:t>
            </a:r>
            <a:endParaRPr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1" name="Google Shape;147;p18">
            <a:extLst>
              <a:ext uri="{FF2B5EF4-FFF2-40B4-BE49-F238E27FC236}">
                <a16:creationId xmlns:a16="http://schemas.microsoft.com/office/drawing/2014/main" id="{A07B566A-2AFE-DDA9-90D8-EC0C40281F4F}"/>
              </a:ext>
            </a:extLst>
          </p:cNvPr>
          <p:cNvSpPr txBox="1"/>
          <p:nvPr/>
        </p:nvSpPr>
        <p:spPr>
          <a:xfrm>
            <a:off x="691242" y="5169091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i="0" u="none" strike="noStrike" cap="none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Post-2008 </a:t>
            </a:r>
            <a:r>
              <a:rPr lang="en-US" sz="2100" b="1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Financial Crisis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" name="Google Shape;148;p18">
            <a:extLst>
              <a:ext uri="{FF2B5EF4-FFF2-40B4-BE49-F238E27FC236}">
                <a16:creationId xmlns:a16="http://schemas.microsoft.com/office/drawing/2014/main" id="{80469A87-DC20-614B-4B57-E24A7B5209EC}"/>
              </a:ext>
            </a:extLst>
          </p:cNvPr>
          <p:cNvSpPr txBox="1"/>
          <p:nvPr/>
        </p:nvSpPr>
        <p:spPr>
          <a:xfrm>
            <a:off x="691242" y="5683441"/>
            <a:ext cx="11049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A second mode switches the entire dashboard context to the post-crisis era, highlighting the recovery period and recent volatility in the 2020s.</a:t>
            </a:r>
            <a:endParaRPr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13111" y="1398925"/>
            <a:ext cx="1036577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Realtime Analysis with Live Web Connection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789929" y="1398925"/>
            <a:ext cx="47625" cy="55399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3695699" y="3351848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Real-Time FDIC Connection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837554" y="4036129"/>
            <a:ext cx="1051688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This reporting solution bypasses static CSV flat files (Import Mode) by establishing a direct, live connection (Direct Query Mode) to the FDIC government database.</a:t>
            </a:r>
            <a:endParaRPr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2401476" y="888693"/>
            <a:ext cx="738904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Advanced Time Intelligence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42925" y="857586"/>
            <a:ext cx="47625" cy="616212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762000" y="2007534"/>
            <a:ext cx="102958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Drill-Down Capabilities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762001" y="2719009"/>
            <a:ext cx="10668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A robust Star Schema with a custom Date Table allows for precise time-based analysis across quarter, year, and decade.</a:t>
            </a:r>
            <a:endParaRPr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762000" y="3769659"/>
            <a:ext cx="102958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The "Play Axis"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762001" y="4481134"/>
            <a:ext cx="10668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I integrated the Play Axis visual to automate the storytelling experience, allowing stakeholders to watch the yearly trends animate and evolve from 2000 to the present day.</a:t>
            </a:r>
            <a:endParaRPr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45"/>
            <a:ext cx="12192000" cy="6128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chemeClr val="bg1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 – Interactiv</a:t>
            </a:r>
            <a:r>
              <a:rPr lang="en-GB" sz="1800" dirty="0">
                <a:solidFill>
                  <a:schemeClr val="bg1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e Report (Click on visuals to change </a:t>
            </a:r>
            <a:endParaRPr lang="en-IE" sz="1200" dirty="0">
              <a:solidFill>
                <a:schemeClr val="bg1"/>
              </a:solidFill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Failed Banks - State Wise ,columnChart ,PBI_CV_16948668_E17D_454B_8664_2F2C470EA8C1 ,azureMap ,cardVisual ,lineChart ,cardVisual ,cardVisual ,cardVisual ,actionButton ,actionButton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rcRect b="2412"/>
          <a:stretch>
            <a:fillRect/>
          </a:stretch>
        </p:blipFill>
        <p:spPr>
          <a:xfrm>
            <a:off x="655124" y="785308"/>
            <a:ext cx="10881752" cy="5798371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Report</a:t>
            </a:r>
          </a:p>
        </p:txBody>
      </p:sp>
      <p:sp>
        <p:nvSpPr>
          <p:cNvPr id="2" name="Google Shape;145;p18">
            <a:extLst>
              <a:ext uri="{FF2B5EF4-FFF2-40B4-BE49-F238E27FC236}">
                <a16:creationId xmlns:a16="http://schemas.microsoft.com/office/drawing/2014/main" id="{1C2133C6-DEA0-69CB-4FED-6F5B986F1AA8}"/>
              </a:ext>
            </a:extLst>
          </p:cNvPr>
          <p:cNvSpPr txBox="1"/>
          <p:nvPr/>
        </p:nvSpPr>
        <p:spPr>
          <a:xfrm>
            <a:off x="295275" y="274321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Pre-2008 Crisis Mode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2ABD3-442C-BF23-7621-BB0846D1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A1041C46-7C11-DAF9-D714-0D3B6BDC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Report</a:t>
            </a:r>
          </a:p>
        </p:txBody>
      </p:sp>
      <p:sp>
        <p:nvSpPr>
          <p:cNvPr id="2" name="Google Shape;145;p18">
            <a:extLst>
              <a:ext uri="{FF2B5EF4-FFF2-40B4-BE49-F238E27FC236}">
                <a16:creationId xmlns:a16="http://schemas.microsoft.com/office/drawing/2014/main" id="{B9513DD8-F508-2748-AB67-3474CD4E6A54}"/>
              </a:ext>
            </a:extLst>
          </p:cNvPr>
          <p:cNvSpPr txBox="1"/>
          <p:nvPr/>
        </p:nvSpPr>
        <p:spPr>
          <a:xfrm>
            <a:off x="295275" y="274321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100" b="1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Post-2008 Financial Crisis</a:t>
            </a:r>
            <a:endParaRPr lang="en-US" sz="2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D28BDA-3C10-8D82-FEE3-B2148D72E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76" y="753036"/>
            <a:ext cx="10907647" cy="583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37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2261145" y="4596050"/>
            <a:ext cx="26213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/>
                <a:sym typeface="Times New Roman"/>
              </a:rPr>
              <a:t>BANK FAILURES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366712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The Peak Year – Most FBs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2023170" y="571500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2023170" y="3033474"/>
            <a:ext cx="262130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157</a:t>
            </a:r>
            <a:endParaRPr sz="1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5406330" y="3324225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The Year 2010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5406330" y="3838575"/>
            <a:ext cx="532980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My report uncovered that </a:t>
            </a:r>
            <a:r>
              <a:rPr lang="en-US" sz="1500" b="1" i="0" u="none" strike="noStrike" cap="none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2010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 was the single most volatile year in the last quarter-century, representing the aftershock of the 2008 financial crisis.</a:t>
            </a:r>
            <a:endParaRPr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816623BC-882C-7829-FD1E-4B1E9A63A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1" descr="image.png">
            <a:extLst>
              <a:ext uri="{FF2B5EF4-FFF2-40B4-BE49-F238E27FC236}">
                <a16:creationId xmlns:a16="http://schemas.microsoft.com/office/drawing/2014/main" id="{A9055CB9-2D8C-4682-D896-FB1308AF82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>
            <a:extLst>
              <a:ext uri="{FF2B5EF4-FFF2-40B4-BE49-F238E27FC236}">
                <a16:creationId xmlns:a16="http://schemas.microsoft.com/office/drawing/2014/main" id="{230C299C-EF0F-7E38-0A19-79AABB655E6C}"/>
              </a:ext>
            </a:extLst>
          </p:cNvPr>
          <p:cNvSpPr txBox="1"/>
          <p:nvPr/>
        </p:nvSpPr>
        <p:spPr>
          <a:xfrm>
            <a:off x="2261145" y="4596050"/>
            <a:ext cx="26213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/>
                <a:sym typeface="Times New Roman"/>
              </a:rPr>
              <a:t>BANK FAILURES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79" name="Google Shape;179;p21">
            <a:extLst>
              <a:ext uri="{FF2B5EF4-FFF2-40B4-BE49-F238E27FC236}">
                <a16:creationId xmlns:a16="http://schemas.microsoft.com/office/drawing/2014/main" id="{801F7AEB-C08A-4F41-0583-27259BF37E3E}"/>
              </a:ext>
            </a:extLst>
          </p:cNvPr>
          <p:cNvSpPr txBox="1"/>
          <p:nvPr/>
        </p:nvSpPr>
        <p:spPr>
          <a:xfrm>
            <a:off x="366712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The COVID Years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80" name="Google Shape;180;p21">
            <a:extLst>
              <a:ext uri="{FF2B5EF4-FFF2-40B4-BE49-F238E27FC236}">
                <a16:creationId xmlns:a16="http://schemas.microsoft.com/office/drawing/2014/main" id="{CBEC4692-1BA8-A56D-819F-E285CCDAB5FE}"/>
              </a:ext>
            </a:extLst>
          </p:cNvPr>
          <p:cNvSpPr/>
          <p:nvPr/>
        </p:nvSpPr>
        <p:spPr>
          <a:xfrm>
            <a:off x="2023170" y="571500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>
            <a:extLst>
              <a:ext uri="{FF2B5EF4-FFF2-40B4-BE49-F238E27FC236}">
                <a16:creationId xmlns:a16="http://schemas.microsoft.com/office/drawing/2014/main" id="{9D9E9561-E1F6-B92B-A0AA-34A3F731882A}"/>
              </a:ext>
            </a:extLst>
          </p:cNvPr>
          <p:cNvSpPr txBox="1"/>
          <p:nvPr/>
        </p:nvSpPr>
        <p:spPr>
          <a:xfrm>
            <a:off x="2339205" y="3011776"/>
            <a:ext cx="262130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9</a:t>
            </a:r>
            <a:endParaRPr sz="1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82" name="Google Shape;182;p21">
            <a:extLst>
              <a:ext uri="{FF2B5EF4-FFF2-40B4-BE49-F238E27FC236}">
                <a16:creationId xmlns:a16="http://schemas.microsoft.com/office/drawing/2014/main" id="{30E746FF-9130-67FD-2962-E28B581014F3}"/>
              </a:ext>
            </a:extLst>
          </p:cNvPr>
          <p:cNvSpPr txBox="1"/>
          <p:nvPr/>
        </p:nvSpPr>
        <p:spPr>
          <a:xfrm>
            <a:off x="5406330" y="3324225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2020 - 2023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83" name="Google Shape;183;p21">
            <a:extLst>
              <a:ext uri="{FF2B5EF4-FFF2-40B4-BE49-F238E27FC236}">
                <a16:creationId xmlns:a16="http://schemas.microsoft.com/office/drawing/2014/main" id="{E01B2CE9-54AD-1A57-695E-57C178B8BA72}"/>
              </a:ext>
            </a:extLst>
          </p:cNvPr>
          <p:cNvSpPr txBox="1"/>
          <p:nvPr/>
        </p:nvSpPr>
        <p:spPr>
          <a:xfrm>
            <a:off x="5406330" y="3838575"/>
            <a:ext cx="532980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COVID Years was not as bad as 2008 Financial Crisis. This shows us how prepared institutions were for such major concerning global events. 2021 and 2022  had 0 failures.</a:t>
            </a:r>
            <a:endParaRPr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398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AF37E-FA69-B0D7-E82B-FC4F23DAA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C0AB027B-3640-5CEB-732F-BAE79F9B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Report</a:t>
            </a:r>
          </a:p>
        </p:txBody>
      </p:sp>
      <p:sp>
        <p:nvSpPr>
          <p:cNvPr id="2" name="Google Shape;145;p18">
            <a:extLst>
              <a:ext uri="{FF2B5EF4-FFF2-40B4-BE49-F238E27FC236}">
                <a16:creationId xmlns:a16="http://schemas.microsoft.com/office/drawing/2014/main" id="{FA428CD9-D9E2-7957-6EBA-D26FEC5A81DE}"/>
              </a:ext>
            </a:extLst>
          </p:cNvPr>
          <p:cNvSpPr txBox="1"/>
          <p:nvPr/>
        </p:nvSpPr>
        <p:spPr>
          <a:xfrm>
            <a:off x="295275" y="274321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COVID Years (2020 – 2023)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D82125-076B-FEE6-5E45-34DA51D15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235" y="965498"/>
            <a:ext cx="10393529" cy="56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97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430123" y="1737573"/>
            <a:ext cx="11331753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DEFF9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Thank You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052257" y="3234041"/>
            <a:ext cx="608748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Urbanist"/>
                <a:sym typeface="Urbanist"/>
              </a:rPr>
              <a:t>Explore the interactive report on my portfolio.</a:t>
            </a:r>
            <a:endParaRPr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4ea357ba-4bfa-4216-9837-1b0b188ce039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VY/07jOBB+lSh/Z5Hz0w7/0QASOjihBSGdTqia2JOSJU0qx+Xoor7LPss92dlOStkCC9sliNVVQqrH9vib+T7PuNy5omxnFSz+hCm6u+6oaa6nIK+d0PXcurPRAuMgDvKYIviIURDkRM82M1U2devu3rkK5ATVRdnOoTKOtPFvV0AqRMowhNyPBEnzOBbupedCVZ3CxKwpoGrRc2co26aGqvyKnQs9peQcl56Lt7OqkWAOOlOg0Bx2o5frsQbm7xiUwFV5g2fIVWctfChIJBJK84QgDwVSs6ztFli8Ty4xru3xWVMrKGt9jLFRP/exKPR6yMMoZYQKbn2UleqX5IuD25nUMetMLGYmZZnGOmlkyaFybRQS2w70nZs11Xxqvx18Zz9r5pLjZyzsVK1KtdCeDqGsUDgjqK9bd6lTciobnTA7Z1Py7zdrvmr+ySTqsXB3ydK7R7InbqDm2roJY28ykTgB1Q8PBsJojI7RRI/zcF73RMWPYV9qS1vWk6oXwpqT8y6aHGR2BVIZ+eVfNKMm/3pTIwXK0cJSsF/KlRYCbwP/Rwh6ebnSrN7x5YEqe9F0UQyhksulmcrRJyhYiIRGlLCYC/Kegt7XnpxzyCvcBHqi792VTdv/SNHc4voZUfuboh4k/0Oo9JVHdzL1kyJhlIhEkCAiPGFasS/K9FltvBXQvxDkE+p8kebT0dE4uxj7SRqxJGHjA5/uj6M4Go31MBoHh0GmL+PBHsv8TRk8yQIfgoU+uC7/AUMRx36QpilGLA9TwtkH6XuZXuI53YNgCy7g61ziCcxeleiBivL3IXQZL3iCECUhpJwRESDxo3h7xZ8gtDrOtwB73iionEcrfrbSgRT91Jbde+iQDA/e0+/Wj1p4XtEWP5wQKv22/qVX3PA6eM/et666OpPl5KrSf8rsbbFapUAfJ0CBKVp6Yu1rx2420y3XDo9EJ7npDGTZrgS4Gv1R1oYgzz3GQg2izc8r6Melviod9RdQzQ3rAQniY5PcpVXIFBWYkMwvxYfp38maea3cS8NBd+PW2E7u99w90Hg7CBuerlf8CoWFf6Rw2h1TCjQ+Smx/v6x77o2x9iIi/ex9+0m4KARlzBc0CdM0SYmg79Z+ng9zHxatc1bqQ5xjaJW9q8bx79CBtomqb0JIUoA05IJCQkmakFf8SBuejJPGYB21zrbv4OcoMK7iQr81iWBUUO6neUCS8GO8f8xjzfnkrIJ/67hDHkCSQkIoDyMhCISE2Pr/w0eslehorpSO6pFLlueUMohDETGhdUQYTX/RZRGymPk0gjCMOdI01Ey96FLhrcqb201v1uHaopuBnFimmrlqZ8DxFGq0LM86Fmy9tUUfaoFi1QCeKXr2/4qrVqM//wGyKpzo5RQAAA==&quot;"/>
    <we:property name="creatorSessionId" value="&quot;1521a914-17a9-4337-b00c-07e311e0a006&quot;"/>
    <we:property name="creatorTenantId" value="&quot;2daf3b8a-0cf2-4e49-890d-89086138c28f&quot;"/>
    <we:property name="creatorUserId" value="&quot;10032004DEF65E40&quot;"/>
    <we:property name="datasetId" value="&quot;ee627da4-96fe-4e3a-8f98-33f5604b81ec&quot;"/>
    <we:property name="embedUrl" value="&quot;/reportEmbed?reportId=cd1f31a3-369c-41e6-b04d-0e2b2d931b6f&amp;config=eyJjbHVzdGVyVXJsIjoiaHR0cHM6Ly9XQUJJLUNBTkFEQS1DRU5UUkFMLUI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Wb/07jOBDHX6XK3znkOD9s8x8tRULQXbQgpNOpqia2U7KkSZW4HCzqu9yz3JOdnaTbpUCALkXk8gdSM3bG85n5xhlF5t4ScTFP4O4LzKS1b/Wz7HoG+XXPtWwrrW1fv56MDr6dTL4cjIbanM1VnKWFtX9vKcinUl3GxQIS40Eb/xrbFiTJGUzNVQRJIW1rLvMiSyGJf8hqsh5S+UIubUvezpMsB+PyXIGSxu2Nnq6v9drOngkEuIpv5LnkqrJGDkTIEwEhYYAkd4UkZlpRTSgje3KKcV0uP8hSBXGqlzE24oSOjCI9H0LXYxQRwUsfcaLqKeHd8HaeazrNfDc3WRnoWKdZHnNIrJIil0UV9L01yJLFrPw1fGA/zxY5l99kVA6lKlZ32tMRxIkUvT6k14W11Ck5yzOdsHKsTMm//5Tmq+zvQS71tbD20dL+GcmBuIGUa+tmGAfTaS6noOrL4Y5iNMaeqX4d59EirQvlPw57rC1FnE6TWgjrmlxUNCHkgyvIlRFa+F1X1ORf35TlQub9u7IEh3G+0gK2N+L/DNDL8Uqz+o7vv6iyFk1FsQuVjJdmKJQOkoK6EhGPIOpzgT5S0IfaU+8CwkRuBjrSz91VmbYOKZqXcb1F1M6mqHeS/12o9JVLVzJ1giigBIlAIOwhHlCt2Bdl+qw23ivQPyXkT6jzxTKf9Y8ng8uJEzCPBgGdDB1yOPF8rz/Rl94EH+GBfhiHB3TgbMrgySrwXVShhqvyj6kUvu9gxpj0aOgyxOknee8N9BS7VzUEW9QCfixyOYL5qxK9o035IUKV8YgHErzABcYpElgix/O3V/xIQqE53yPYi0xB0ns04607HeSiHtry7b1rJFMH2xLAhGBUuhA6nkAs9H3xaTeeV7wWP50QEt1b/1YXt3sdfOS7b73r6kzG06tE/ylzbyGTVQr0cgIUmE1LD6x97ZU3m+GCa4fHopLcbA55XKwEuLo6iVNTINs6lZHaiTa/rUI/jfWjUpX+EpKFqTpGDjo1yV2WCplJBQZJB/+gQHuDbJEqa2yU/T9AdrqHjLuH7HYP2esest895KB7yKR7yLR7yKxzyLh73RfuXveFu9d94e51X7h73RfuXveF3vSSGtv1F6p1bKOf99z/8k2o2MnXC9viwK+kKMM/VnJWLRMLaXzEsmhL1tdfKWzrxlhrEaF61LhoJZfTyOW0lgs3cuHWcrmNXG5rubxGLq+1XH4jl99arqCRK2gtF2nkIq3loo1ctLVcrJGLtZULN/YbuLX9Bm7sN3Br+w3c2G/g1vYbuLHfwK3tN3Bjv4Fb22/gxn4Dt7bfQI37PGLW6rhMwEUkCKWOIIHLWMCQIGbihxyXeR7zEO6K3nmsF+mdQqHKswXG8RYHJT78xMw2VPWhGYkYAHO5IBAQxAL0ikOluy/GKDOx9ovetuf2niuBceVHjGnRUSIId1iIUeB+jvNa5nBZ74/eCv69uV2OIWAQIMJdTwgELkLGQfOhu1Ki/YVSmuqRSxqGhFDwXeFRoXWEKGG/6TJyqU8d4oHr+lwS5upKvehSyVsVZreb3kqHa4s1k/m0rFS2UMUcuDyDVJZVnldVKPfb8qMbpEKK+nf+zKZn/tnBKtfQwcRGxq+bX+2Ey/8ArmeO3acxAAA=&quot;"/>
    <we:property name="isFiltersActionButtonVisible" value="true"/>
    <we:property name="isVisualContainerHeaderHidden" value="false"/>
    <we:property name="pageDisplayName" value="&quot;Main Report&quot;"/>
    <we:property name="pageName" value="&quot;f1af04d677b60ec3de73&quot;"/>
    <we:property name="reportEmbeddedTime" value="&quot;2025-12-04T23:17:35.770Z&quot;"/>
    <we:property name="reportName" value="&quot;US Bank Failures - A 25-Year Historical Analysis (2000 - 2025)&quot;"/>
    <we:property name="reportState" value="&quot;CONNECTED&quot;"/>
    <we:property name="reportUrl" value="&quot;/groups/me/reports/cd1f31a3-369c-41e6-b04d-0e2b2d931b6f/f1af04d677b60ec3de73?bookmarkGuid=49ed6fb6-3cbf-4527-ae07-57c868e23422&amp;bookmarkUsage=1&amp;ctid=2daf3b8a-0cf2-4e49-890d-89086138c28f&amp;fromEntryPoint=export&quot;"/>
    <we:property name="design" value="{&quot;border&quot;:{&quot;isActive&quot;:false,&quot;color&quot;:&quot;#808080&quot;,&quot;width&quot;:1,&quot;transparency&quot;:0,&quot;dash&quot;:&quot;solid&quot;}}"/>
    <we:property name="isFooterCollapsed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1621</TotalTime>
  <Words>326</Words>
  <Application>Microsoft Office PowerPoint</Application>
  <PresentationFormat>Widescreen</PresentationFormat>
  <Paragraphs>36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Segoe UI Black</vt:lpstr>
      <vt:lpstr>Segoe UI Light</vt:lpstr>
      <vt:lpstr>Custom Design</vt:lpstr>
      <vt:lpstr>US Bank Failures - A 25-Year Historical Analysis (2000 - 2025)</vt:lpstr>
      <vt:lpstr>PowerPoint Presentation</vt:lpstr>
      <vt:lpstr>PowerPoint Presentation</vt:lpstr>
      <vt:lpstr>PowerPoint Presentation</vt:lpstr>
      <vt:lpstr>Microsoft Power BI – Interactive Report (Click on visuals to change </vt:lpstr>
      <vt:lpstr>Main Report</vt:lpstr>
      <vt:lpstr>Main Report</vt:lpstr>
      <vt:lpstr>PowerPoint Presentation</vt:lpstr>
      <vt:lpstr>PowerPoint Presentation</vt:lpstr>
      <vt:lpstr>Main Report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Suman Duduka</cp:lastModifiedBy>
  <cp:revision>7</cp:revision>
  <dcterms:created xsi:type="dcterms:W3CDTF">2016-09-04T11:54:55Z</dcterms:created>
  <dcterms:modified xsi:type="dcterms:W3CDTF">2025-12-06T00:54:16Z</dcterms:modified>
</cp:coreProperties>
</file>